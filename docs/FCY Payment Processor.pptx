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A00D-106A-39D0-2D2C-7BC9F8C17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599B6-4CC4-7804-9D19-0B43DF1BB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F27E8-355F-A4B6-C80C-9954794BB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7F4-23AC-4E03-9B78-909F032F65F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1910D-FA4C-27B7-B0E0-B18A9123D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B12E4-8B77-9845-0FAB-07751194E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F7D8-6D04-464A-B56C-D10561A8B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2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261E9-CB9F-7774-E3F8-6DF7BCB3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9777F-D40C-4CEB-2B3E-18E21DEA2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0F4FD-11CB-B194-38A9-3F124A494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7F4-23AC-4E03-9B78-909F032F65F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E8A1A-CC81-698D-F5B2-4748FD8DD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B902E-4327-D9D7-C610-6FC160844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F7D8-6D04-464A-B56C-D10561A8B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07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9B745-A1DD-FFE1-3F42-E5D4D072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9FA65-68F0-1DC8-BEE7-039B35591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9EC1B-642A-E5D9-464F-5990A384F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7F4-23AC-4E03-9B78-909F032F65F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BC96A-FB3C-4702-2B2B-8F34E4E6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306E4-2B1F-4C52-9016-D85472C0A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F7D8-6D04-464A-B56C-D10561A8B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47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5C08-F672-5894-7C4A-127C9CC4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BD8F0-17F6-3021-448B-D6567D505E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AC3E6-7156-A5AC-127F-0D54D558C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C4D7A-894B-E540-BD92-6BEF9EAF5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7F4-23AC-4E03-9B78-909F032F65F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620D4-6C2E-EA4D-D299-62D6145D5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E99E9-818D-BB5E-AEB7-82DE52B95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F7D8-6D04-464A-B56C-D10561A8B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06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B4D0-E09B-5122-7636-1B3F1773C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D6BF3-778D-6951-8E15-C5427EAD9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1A9E5-5E10-DD91-E408-29D9D846C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5A57F7-4FF4-240F-A86A-94837A910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63D2AD-4C33-B390-C0C5-C3EF1D263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A7C646-4676-4513-632D-CB06D3FF4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7F4-23AC-4E03-9B78-909F032F65F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CBC587-DBC8-D4A6-0738-29A6F5ED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7316B-D582-7FD2-CD97-231376244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F7D8-6D04-464A-B56C-D10561A8B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5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B2A2E-AE39-B61D-EB0F-84C4DBA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53141-EEDE-2975-5842-72DC9989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7F4-23AC-4E03-9B78-909F032F65F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FF506-906A-D205-6E8E-F33E38B5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2C64A-BD7F-05F5-C9A1-57445215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F7D8-6D04-464A-B56C-D10561A8B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7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7EC39C-D6F1-8618-9016-E43C381DF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7F4-23AC-4E03-9B78-909F032F65F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E4835D-D6DA-73E7-1D40-D42679656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A429A-D6EA-D3AE-D1BF-4D842182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F7D8-6D04-464A-B56C-D10561A8B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2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E1058-70CA-D1A8-371C-878540193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C51B1-FFAD-B0CE-0A6B-023D5607D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9A345-29A7-72E1-9BFE-F12B833E5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1A88C-B04B-0B2E-09FE-3562923CD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7F4-23AC-4E03-9B78-909F032F65F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16870-5A34-39B9-1FF4-3EB60BD31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F0CB0-50CD-CF2F-70AE-E96C43BF1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F7D8-6D04-464A-B56C-D10561A8B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109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F107-8939-9A04-BA66-42D09E581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663BC-B94E-7256-935A-BF2B8B784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17BE3-FAD9-057E-3879-A1FA599A8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02ACE-D8E4-C7DB-77B4-3AB000C2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7F4-23AC-4E03-9B78-909F032F65F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7A5EA-8362-FA41-4D5A-8359DC70A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7AF60-E4B2-74F2-0CA1-3A1026FA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F7D8-6D04-464A-B56C-D10561A8B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9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E62C-9DE3-410D-68F8-76A860B56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4E12E-5F8B-F528-D2F4-B32768261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9813B-D542-2E7B-794D-B1DD659BB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7F4-23AC-4E03-9B78-909F032F65F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25E6B-079D-7D2C-02ED-174333691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CE250-9A84-2749-D5F8-CA678197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F7D8-6D04-464A-B56C-D10561A8B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88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8E9B6-DAA4-44D3-9BAC-90DD345DB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C16AE-6DC4-547B-EE2C-A5CAAA348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726E5-27F9-E478-99EB-00C8632D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7F4-23AC-4E03-9B78-909F032F65F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C2E0B-237F-1295-C526-54FCF4C40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D9CA6-F0DC-A078-A050-E75BDEFD0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F7D8-6D04-464A-B56C-D10561A8B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3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FF952-196E-962B-8F2C-B83C2BC4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58D1-9F9E-3A6D-9BD3-9DC8ABE4D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9877F-AADF-E4D5-B0B3-10A6C12F9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6E87F4-23AC-4E03-9B78-909F032F65F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60BB9-DD11-66C0-2F9A-F78DCFB28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D5E0F-5F6B-8AB8-7743-973432A8A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1F7D8-6D04-464A-B56C-D10561A8B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5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4A08E-1D64-EA59-62BA-C99B79093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CF46B-5921-98D6-11AE-083BCD0D0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99293"/>
            <a:ext cx="9144000" cy="963782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/>
              <a:t>Technical Walkthrough: FCY Payment Processor </a:t>
            </a:r>
            <a:endParaRPr lang="en-US" sz="3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C62806-6730-5CC2-3E98-C89B60328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25872"/>
            <a:ext cx="9247632" cy="54864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000" dirty="0"/>
              <a:t>Paul O. Afolabi</a:t>
            </a:r>
          </a:p>
          <a:p>
            <a:pPr algn="l">
              <a:spcBef>
                <a:spcPts val="0"/>
              </a:spcBef>
            </a:pPr>
            <a:r>
              <a:rPr lang="en-US" sz="1600" dirty="0"/>
              <a:t>Software Engineer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9154E-0630-E709-AB63-7155FEB98E92}"/>
              </a:ext>
            </a:extLst>
          </p:cNvPr>
          <p:cNvSpPr/>
          <p:nvPr/>
        </p:nvSpPr>
        <p:spPr>
          <a:xfrm>
            <a:off x="1627632" y="3272219"/>
            <a:ext cx="2871216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FD642-E8C6-3DE8-5F2D-ABF113A8B5E6}"/>
              </a:ext>
            </a:extLst>
          </p:cNvPr>
          <p:cNvSpPr txBox="1"/>
          <p:nvPr/>
        </p:nvSpPr>
        <p:spPr>
          <a:xfrm>
            <a:off x="1524000" y="3483988"/>
            <a:ext cx="8397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 b="0" i="0" u="none" strike="noStrike" dirty="0">
                <a:solidFill>
                  <a:srgbClr val="000000"/>
                </a:solidFill>
                <a:effectLst/>
                <a:latin typeface="Aptos Light" panose="020B0004020202020204" pitchFamily="34" charset="0"/>
              </a:rPr>
              <a:t>Go | </a:t>
            </a:r>
            <a:r>
              <a:rPr lang="en-US" sz="1500" b="0" i="0" u="none" strike="noStrike" dirty="0" err="1">
                <a:solidFill>
                  <a:srgbClr val="000000"/>
                </a:solidFill>
                <a:effectLst/>
                <a:latin typeface="Aptos Light" panose="020B0004020202020204" pitchFamily="34" charset="0"/>
              </a:rPr>
              <a:t>PostgresSQL</a:t>
            </a:r>
            <a:r>
              <a:rPr lang="en-US" sz="1500" b="0" i="0" u="none" strike="noStrike" dirty="0">
                <a:solidFill>
                  <a:srgbClr val="000000"/>
                </a:solidFill>
                <a:effectLst/>
                <a:latin typeface="Aptos Light" panose="020B0004020202020204" pitchFamily="34" charset="0"/>
              </a:rPr>
              <a:t> | Docker 					March 19,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648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97F328-9EC7-C9E3-DAF5-1C8EE52EB46D}"/>
              </a:ext>
            </a:extLst>
          </p:cNvPr>
          <p:cNvSpPr/>
          <p:nvPr/>
        </p:nvSpPr>
        <p:spPr>
          <a:xfrm>
            <a:off x="493776" y="1441174"/>
            <a:ext cx="2871216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424D76-3193-A0EE-070B-B0919AC889A2}"/>
              </a:ext>
            </a:extLst>
          </p:cNvPr>
          <p:cNvSpPr txBox="1"/>
          <p:nvPr/>
        </p:nvSpPr>
        <p:spPr>
          <a:xfrm>
            <a:off x="687324" y="1862007"/>
            <a:ext cx="10817352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Build a multi-currency processor for internal and external transfers.</a:t>
            </a:r>
          </a:p>
          <a:p>
            <a:pPr marL="285750" indent="-285750" rtl="0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The processor should guarantee correctness of balances, postings, and auditable transaction trail.</a:t>
            </a:r>
          </a:p>
          <a:p>
            <a:pPr marL="285750" indent="-285750" rtl="0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Prioritize pragmatic production judgment under time constraints.</a:t>
            </a:r>
          </a:p>
          <a:p>
            <a:pPr marL="285750" indent="-285750" rtl="0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Tech stack: Go, PostgreSQL, Docker Compose.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63787F-EEB6-529A-52A8-452033460D48}"/>
              </a:ext>
            </a:extLst>
          </p:cNvPr>
          <p:cNvSpPr txBox="1"/>
          <p:nvPr/>
        </p:nvSpPr>
        <p:spPr>
          <a:xfrm>
            <a:off x="395478" y="850292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i="0" u="none" strike="noStrike" dirty="0">
                <a:solidFill>
                  <a:srgbClr val="000000"/>
                </a:solidFill>
                <a:effectLst/>
                <a:latin typeface="+mj-lt"/>
              </a:rPr>
              <a:t>Problem Framing</a:t>
            </a:r>
            <a:endParaRPr lang="en-US" sz="3000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22818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E5B5B-8809-CB4F-4ED5-6F942C4BE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96A14B-2649-DBFC-23DD-AE20951399F1}"/>
              </a:ext>
            </a:extLst>
          </p:cNvPr>
          <p:cNvSpPr/>
          <p:nvPr/>
        </p:nvSpPr>
        <p:spPr>
          <a:xfrm>
            <a:off x="493776" y="1441174"/>
            <a:ext cx="2871216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E7F80A-DBA4-293C-9297-A50F9F67C792}"/>
              </a:ext>
            </a:extLst>
          </p:cNvPr>
          <p:cNvSpPr txBox="1"/>
          <p:nvPr/>
        </p:nvSpPr>
        <p:spPr>
          <a:xfrm>
            <a:off x="687324" y="1862007"/>
            <a:ext cx="10817352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Aft>
                <a:spcPts val="1800"/>
              </a:spcAft>
            </a:pPr>
            <a:r>
              <a:rPr lang="en-US" b="1" dirty="0">
                <a:solidFill>
                  <a:srgbClr val="000000"/>
                </a:solidFill>
              </a:rPr>
              <a:t>Clean Architecture + Repository Pattern </a:t>
            </a:r>
            <a:r>
              <a:rPr lang="en-US" dirty="0">
                <a:solidFill>
                  <a:srgbClr val="000000"/>
                </a:solidFill>
              </a:rPr>
              <a:t>was adopted as a suitable design pattern for the solution.</a:t>
            </a:r>
          </a:p>
          <a:p>
            <a:pPr marL="742950" lvl="1" indent="-285750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highlight>
                  <a:srgbClr val="C0C0C0"/>
                </a:highlight>
              </a:rPr>
              <a:t>HTTP Adapters → Use Cases (</a:t>
            </a:r>
            <a:r>
              <a:rPr lang="en-US" dirty="0" err="1">
                <a:solidFill>
                  <a:srgbClr val="000000"/>
                </a:solidFill>
                <a:highlight>
                  <a:srgbClr val="C0C0C0"/>
                </a:highlight>
              </a:rPr>
              <a:t>IService</a:t>
            </a:r>
            <a:r>
              <a:rPr lang="en-US" dirty="0">
                <a:solidFill>
                  <a:srgbClr val="000000"/>
                </a:solidFill>
                <a:highlight>
                  <a:srgbClr val="C0C0C0"/>
                </a:highlight>
              </a:rPr>
              <a:t>) → </a:t>
            </a:r>
            <a:r>
              <a:rPr lang="en-US" dirty="0" err="1">
                <a:solidFill>
                  <a:srgbClr val="000000"/>
                </a:solidFill>
                <a:highlight>
                  <a:srgbClr val="C0C0C0"/>
                </a:highlight>
              </a:rPr>
              <a:t>IRepository</a:t>
            </a:r>
            <a:r>
              <a:rPr lang="en-US" dirty="0">
                <a:solidFill>
                  <a:srgbClr val="000000"/>
                </a:solidFill>
                <a:highlight>
                  <a:srgbClr val="C0C0C0"/>
                </a:highlight>
              </a:rPr>
              <a:t> → Repository Implementations → PostgreSQL</a:t>
            </a:r>
          </a:p>
          <a:p>
            <a:pPr marL="285750" indent="-285750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Dependency inversion implementation to separate high-level logic from low level implementation.</a:t>
            </a:r>
          </a:p>
          <a:p>
            <a:endParaRPr lang="en-US" dirty="0"/>
          </a:p>
          <a:p>
            <a:r>
              <a:rPr lang="en-US" dirty="0"/>
              <a:t>This structure improves testability, maintainability, and safe evolution of the payment system.</a:t>
            </a:r>
          </a:p>
          <a:p>
            <a:br>
              <a:rPr lang="en-US" dirty="0"/>
            </a:b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E05D70-BCA0-1747-0CA8-F2A0E859DE50}"/>
              </a:ext>
            </a:extLst>
          </p:cNvPr>
          <p:cNvSpPr txBox="1"/>
          <p:nvPr/>
        </p:nvSpPr>
        <p:spPr>
          <a:xfrm>
            <a:off x="395478" y="850292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i="0" u="none" strike="noStrike" dirty="0">
                <a:solidFill>
                  <a:srgbClr val="000000"/>
                </a:solidFill>
                <a:effectLst/>
                <a:latin typeface="+mj-lt"/>
              </a:rPr>
              <a:t>Solution Architecture</a:t>
            </a:r>
            <a:endParaRPr lang="en-US" sz="3000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11767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77F75-148C-C8D3-B1D0-7C3FC37CB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A66733-AB1C-27EE-A855-B2259A6BDC4B}"/>
              </a:ext>
            </a:extLst>
          </p:cNvPr>
          <p:cNvSpPr/>
          <p:nvPr/>
        </p:nvSpPr>
        <p:spPr>
          <a:xfrm>
            <a:off x="493776" y="1441174"/>
            <a:ext cx="2871216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DC627B-A4DB-4C98-EB88-F799B04CA60D}"/>
              </a:ext>
            </a:extLst>
          </p:cNvPr>
          <p:cNvSpPr txBox="1"/>
          <p:nvPr/>
        </p:nvSpPr>
        <p:spPr>
          <a:xfrm>
            <a:off x="395478" y="850292"/>
            <a:ext cx="96354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i="0" u="none" strike="noStrike" dirty="0">
                <a:solidFill>
                  <a:srgbClr val="000000"/>
                </a:solidFill>
                <a:effectLst/>
                <a:latin typeface="+mj-lt"/>
              </a:rPr>
              <a:t>Solution Architecture – ERD, Domain and Data Model</a:t>
            </a:r>
            <a:endParaRPr lang="en-US" sz="3000" b="0" dirty="0"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6CECE6-2EDA-1D7D-068D-65D59E69B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" y="1523777"/>
            <a:ext cx="11155680" cy="529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04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07093-B4F4-29FB-785A-DADA5B84D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3410CE-6679-219E-DC64-0C04BC6CF335}"/>
              </a:ext>
            </a:extLst>
          </p:cNvPr>
          <p:cNvSpPr/>
          <p:nvPr/>
        </p:nvSpPr>
        <p:spPr>
          <a:xfrm>
            <a:off x="493776" y="1441174"/>
            <a:ext cx="2871216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FE47F2-C9E8-A741-1D1F-66F2BDAC7F62}"/>
              </a:ext>
            </a:extLst>
          </p:cNvPr>
          <p:cNvSpPr txBox="1"/>
          <p:nvPr/>
        </p:nvSpPr>
        <p:spPr>
          <a:xfrm>
            <a:off x="395478" y="850292"/>
            <a:ext cx="87668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i="0" u="none" strike="noStrike" dirty="0">
                <a:solidFill>
                  <a:srgbClr val="000000"/>
                </a:solidFill>
                <a:effectLst/>
                <a:latin typeface="+mj-lt"/>
              </a:rPr>
              <a:t>Solution Architecture – Sequence Diagram</a:t>
            </a:r>
            <a:endParaRPr lang="en-US" sz="3000" b="0" dirty="0"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44B24F-3BCC-8207-827C-872B168ED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" y="1552217"/>
            <a:ext cx="11155680" cy="52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4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C6047-55A5-D6C3-C2EA-DD53660C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1F019EC-760F-C0C5-AA0F-1B1B607172CE}"/>
              </a:ext>
            </a:extLst>
          </p:cNvPr>
          <p:cNvSpPr/>
          <p:nvPr/>
        </p:nvSpPr>
        <p:spPr>
          <a:xfrm>
            <a:off x="493776" y="1441174"/>
            <a:ext cx="2871216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69C2B9-2F00-26A7-D97C-DC68033431F5}"/>
              </a:ext>
            </a:extLst>
          </p:cNvPr>
          <p:cNvSpPr txBox="1"/>
          <p:nvPr/>
        </p:nvSpPr>
        <p:spPr>
          <a:xfrm>
            <a:off x="687324" y="1628327"/>
            <a:ext cx="10817352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POST</a:t>
            </a:r>
            <a:r>
              <a:rPr lang="en-US" dirty="0"/>
              <a:t> /create-user – Creates a customer record. Generates and returns </a:t>
            </a:r>
            <a:r>
              <a:rPr lang="en-US" dirty="0" err="1">
                <a:highlight>
                  <a:srgbClr val="C0C0C0"/>
                </a:highlight>
              </a:rPr>
              <a:t>customerId</a:t>
            </a:r>
            <a:endParaRPr lang="en-US" dirty="0">
              <a:highlight>
                <a:srgbClr val="C0C0C0"/>
              </a:highlight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POST</a:t>
            </a:r>
            <a:r>
              <a:rPr lang="en-US" dirty="0"/>
              <a:t> /create-account – Creates FCY account using the </a:t>
            </a:r>
            <a:r>
              <a:rPr lang="en-US" dirty="0" err="1">
                <a:highlight>
                  <a:srgbClr val="C0C0C0"/>
                </a:highlight>
              </a:rPr>
              <a:t>customerId</a:t>
            </a:r>
            <a:r>
              <a:rPr lang="en-US" dirty="0"/>
              <a:t> generated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00FFFF"/>
                </a:highlight>
              </a:rPr>
              <a:t>GET</a:t>
            </a:r>
            <a:r>
              <a:rPr lang="en-US" dirty="0"/>
              <a:t> /get-account – Fetches provided account details if it exists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POST</a:t>
            </a:r>
            <a:r>
              <a:rPr lang="en-US" dirty="0"/>
              <a:t> /deposit-funds – Deposits funds for internal, sender account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00FFFF"/>
                </a:highlight>
              </a:rPr>
              <a:t>GET</a:t>
            </a:r>
            <a:r>
              <a:rPr lang="en-US" dirty="0"/>
              <a:t> /get-participant-banks – Fetches external banks’ details supported by the payment processor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00FFFF"/>
                </a:highlight>
              </a:rPr>
              <a:t>GET</a:t>
            </a:r>
            <a:r>
              <a:rPr lang="en-US" dirty="0"/>
              <a:t> /get-rates – Fetches all maintained currency pairs and rates from the database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POST</a:t>
            </a:r>
            <a:r>
              <a:rPr lang="en-US" dirty="0"/>
              <a:t> /get-rate – Fetches specific maintained currency pair and exchange rate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00FFFF"/>
                </a:highlight>
              </a:rPr>
              <a:t>GET</a:t>
            </a:r>
            <a:r>
              <a:rPr lang="en-US" dirty="0"/>
              <a:t> /get-charges – Computes and returns detailed charges per amount and currency provided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POST</a:t>
            </a:r>
            <a:r>
              <a:rPr lang="en-US" dirty="0"/>
              <a:t> /convert-</a:t>
            </a:r>
            <a:r>
              <a:rPr lang="en-US" dirty="0" err="1"/>
              <a:t>fcy</a:t>
            </a:r>
            <a:r>
              <a:rPr lang="en-US" dirty="0"/>
              <a:t>-amount – Computes amount in sender’s currency relative to beneficiary currency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POST</a:t>
            </a:r>
            <a:r>
              <a:rPr lang="en-US" dirty="0"/>
              <a:t> /verify-pin – Verifies user’s transaction PIN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POST</a:t>
            </a:r>
            <a:r>
              <a:rPr lang="en-US" dirty="0"/>
              <a:t> /transfer-funds  - Debits senders accounts and credits beneficiary’s account. (</a:t>
            </a:r>
            <a:r>
              <a:rPr lang="en-US" dirty="0" err="1"/>
              <a:t>beneficiaryBankCode</a:t>
            </a:r>
            <a:r>
              <a:rPr lang="en-US" dirty="0"/>
              <a:t>=100100 for internal transfers)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A4A124-3075-96A2-6058-F6F935C9225B}"/>
              </a:ext>
            </a:extLst>
          </p:cNvPr>
          <p:cNvSpPr txBox="1"/>
          <p:nvPr/>
        </p:nvSpPr>
        <p:spPr>
          <a:xfrm>
            <a:off x="395478" y="850292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i="0" u="none" strike="noStrike" dirty="0">
                <a:solidFill>
                  <a:srgbClr val="000000"/>
                </a:solidFill>
                <a:effectLst/>
                <a:latin typeface="+mj-lt"/>
              </a:rPr>
              <a:t>API Endpoints</a:t>
            </a:r>
            <a:endParaRPr lang="en-US" sz="3000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5840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6FED4-2A60-4495-D365-25DA85231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1718344-7864-963D-785B-6DCF67761CB3}"/>
              </a:ext>
            </a:extLst>
          </p:cNvPr>
          <p:cNvSpPr/>
          <p:nvPr/>
        </p:nvSpPr>
        <p:spPr>
          <a:xfrm>
            <a:off x="493776" y="1441174"/>
            <a:ext cx="2871216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79318-138D-3E91-FFC7-57C2E51B45F1}"/>
              </a:ext>
            </a:extLst>
          </p:cNvPr>
          <p:cNvSpPr txBox="1"/>
          <p:nvPr/>
        </p:nvSpPr>
        <p:spPr>
          <a:xfrm>
            <a:off x="687324" y="1862007"/>
            <a:ext cx="1081735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b="1" dirty="0"/>
              <a:t>Validation</a:t>
            </a:r>
            <a:r>
              <a:rPr lang="en-US" dirty="0"/>
              <a:t>: Validate request, account states/currencies, and transaction PIN</a:t>
            </a:r>
          </a:p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b="1" dirty="0"/>
              <a:t>Computation and Persistence</a:t>
            </a:r>
            <a:r>
              <a:rPr lang="en-US" dirty="0"/>
              <a:t>: Compute FX + charges/VAT and persist transfer as </a:t>
            </a:r>
            <a:r>
              <a:rPr lang="en-US" dirty="0">
                <a:highlight>
                  <a:srgbClr val="C0C0C0"/>
                </a:highlight>
              </a:rPr>
              <a:t>PENDING</a:t>
            </a:r>
          </a:p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b="1" dirty="0"/>
              <a:t>Posting</a:t>
            </a:r>
            <a:r>
              <a:rPr lang="en-US" dirty="0"/>
              <a:t>: debit sender (full amt) =&gt; credit GL account (full amt) =&gt; debit GL account (</a:t>
            </a:r>
            <a:r>
              <a:rPr lang="en-US" dirty="0" err="1"/>
              <a:t>txn</a:t>
            </a:r>
            <a:r>
              <a:rPr lang="en-US" dirty="0"/>
              <a:t> amt) =&gt; credit beneficiary account (</a:t>
            </a:r>
            <a:r>
              <a:rPr lang="en-US" dirty="0" err="1"/>
              <a:t>txn</a:t>
            </a:r>
            <a:r>
              <a:rPr lang="en-US" dirty="0"/>
              <a:t> amt)</a:t>
            </a:r>
          </a:p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b="1" dirty="0"/>
              <a:t>Update and Settlement</a:t>
            </a:r>
            <a:r>
              <a:rPr lang="en-US" dirty="0"/>
              <a:t>: Status transitions to </a:t>
            </a:r>
            <a:r>
              <a:rPr lang="en-US" dirty="0">
                <a:highlight>
                  <a:srgbClr val="C0C0C0"/>
                </a:highlight>
              </a:rPr>
              <a:t>SUCCESS</a:t>
            </a:r>
            <a:r>
              <a:rPr lang="en-US" dirty="0"/>
              <a:t>, then </a:t>
            </a:r>
            <a:r>
              <a:rPr lang="en-US" dirty="0">
                <a:highlight>
                  <a:srgbClr val="C0C0C0"/>
                </a:highlight>
              </a:rPr>
              <a:t>CLOSED</a:t>
            </a:r>
            <a:r>
              <a:rPr lang="en-US" dirty="0"/>
              <a:t> after transaction settlement into charges and VAT GL accounts</a:t>
            </a:r>
          </a:p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b="1" dirty="0"/>
              <a:t>Response</a:t>
            </a:r>
            <a:r>
              <a:rPr lang="en-US" dirty="0"/>
              <a:t>: Transaction details are returned to the user/channel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EF6EEF-E423-E77E-C2BE-9FF971C8E6D0}"/>
              </a:ext>
            </a:extLst>
          </p:cNvPr>
          <p:cNvSpPr txBox="1"/>
          <p:nvPr/>
        </p:nvSpPr>
        <p:spPr>
          <a:xfrm>
            <a:off x="395478" y="850292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i="0" u="none" strike="noStrike" dirty="0">
                <a:solidFill>
                  <a:srgbClr val="000000"/>
                </a:solidFill>
                <a:effectLst/>
                <a:latin typeface="+mj-lt"/>
              </a:rPr>
              <a:t>Transfer flow - Internal</a:t>
            </a:r>
            <a:endParaRPr lang="en-US" sz="3000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8936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839A8-DD93-CA01-4BE0-A73941790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485404-24A2-CF90-0104-E6B26B55AA23}"/>
              </a:ext>
            </a:extLst>
          </p:cNvPr>
          <p:cNvSpPr/>
          <p:nvPr/>
        </p:nvSpPr>
        <p:spPr>
          <a:xfrm>
            <a:off x="493776" y="1441174"/>
            <a:ext cx="2871216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5A80D4-C79E-72D4-E246-5498EC77F8E0}"/>
              </a:ext>
            </a:extLst>
          </p:cNvPr>
          <p:cNvSpPr txBox="1"/>
          <p:nvPr/>
        </p:nvSpPr>
        <p:spPr>
          <a:xfrm>
            <a:off x="687324" y="1862007"/>
            <a:ext cx="1081735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b="1" dirty="0"/>
              <a:t>Routing</a:t>
            </a:r>
            <a:r>
              <a:rPr lang="en-US" dirty="0"/>
              <a:t>: Route by beneficiary bank code (non-Grey – 100100 - means external transfer)</a:t>
            </a:r>
          </a:p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b="1" dirty="0"/>
              <a:t>Validation</a:t>
            </a:r>
            <a:r>
              <a:rPr lang="en-US" dirty="0"/>
              <a:t>: Validate request, account status/currency, transaction PIN, participant bank support and resolve destination external GL by currency</a:t>
            </a:r>
          </a:p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b="1" dirty="0"/>
              <a:t>Computation and Persistence</a:t>
            </a:r>
            <a:r>
              <a:rPr lang="en-US" dirty="0"/>
              <a:t>: Compute FX + charges/VAT and persist transfer as </a:t>
            </a:r>
            <a:r>
              <a:rPr lang="en-US" dirty="0">
                <a:highlight>
                  <a:srgbClr val="C0C0C0"/>
                </a:highlight>
              </a:rPr>
              <a:t>PENDING</a:t>
            </a:r>
            <a:endParaRPr lang="en-US" dirty="0"/>
          </a:p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b="1" dirty="0"/>
              <a:t>Posting</a:t>
            </a:r>
            <a:r>
              <a:rPr lang="en-US" dirty="0"/>
              <a:t>: debit sender (full amt) =&gt; credits internal GL account (full amt) =&gt; debit internal GL account (</a:t>
            </a:r>
            <a:r>
              <a:rPr lang="en-US" dirty="0" err="1"/>
              <a:t>txn</a:t>
            </a:r>
            <a:r>
              <a:rPr lang="en-US" dirty="0"/>
              <a:t> amt) =&gt; credit external GL account of the same currency as beneficiary currency (</a:t>
            </a:r>
            <a:r>
              <a:rPr lang="en-US" dirty="0" err="1"/>
              <a:t>txn</a:t>
            </a:r>
            <a:r>
              <a:rPr lang="en-US" dirty="0"/>
              <a:t> amt)</a:t>
            </a:r>
          </a:p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b="1" dirty="0"/>
              <a:t>Update and Settlement</a:t>
            </a:r>
            <a:r>
              <a:rPr lang="en-US" dirty="0"/>
              <a:t>: Persist external reference for traceability. Status transitions to </a:t>
            </a:r>
            <a:r>
              <a:rPr lang="en-US" dirty="0">
                <a:highlight>
                  <a:srgbClr val="C0C0C0"/>
                </a:highlight>
              </a:rPr>
              <a:t>SUCCESS</a:t>
            </a:r>
            <a:r>
              <a:rPr lang="en-US" dirty="0"/>
              <a:t>, then </a:t>
            </a:r>
            <a:r>
              <a:rPr lang="en-US" dirty="0">
                <a:highlight>
                  <a:srgbClr val="C0C0C0"/>
                </a:highlight>
              </a:rPr>
              <a:t>CLOSED</a:t>
            </a:r>
            <a:r>
              <a:rPr lang="en-US" dirty="0"/>
              <a:t> after transaction settlement into charges and VAT GL accounts</a:t>
            </a:r>
          </a:p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b="1" dirty="0"/>
              <a:t>Response</a:t>
            </a:r>
            <a:r>
              <a:rPr lang="en-US" dirty="0"/>
              <a:t>: Transaction details are returned to the user/channel</a:t>
            </a:r>
          </a:p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458457-96CF-3646-6C8D-C0BDC68EC3A1}"/>
              </a:ext>
            </a:extLst>
          </p:cNvPr>
          <p:cNvSpPr txBox="1"/>
          <p:nvPr/>
        </p:nvSpPr>
        <p:spPr>
          <a:xfrm>
            <a:off x="395478" y="850292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i="0" u="none" strike="noStrike" dirty="0">
                <a:solidFill>
                  <a:srgbClr val="000000"/>
                </a:solidFill>
                <a:effectLst/>
                <a:latin typeface="+mj-lt"/>
              </a:rPr>
              <a:t>Transfer flow - External</a:t>
            </a:r>
            <a:endParaRPr lang="en-US" sz="3000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49903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55840-9E8D-7969-F82D-7419E08AA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D29DC9-BDD3-A963-D173-BAC04CB0FE5B}"/>
              </a:ext>
            </a:extLst>
          </p:cNvPr>
          <p:cNvSpPr/>
          <p:nvPr/>
        </p:nvSpPr>
        <p:spPr>
          <a:xfrm>
            <a:off x="493776" y="1441174"/>
            <a:ext cx="2871216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E45FAF-7476-C975-CDA3-DBA5FF04660F}"/>
              </a:ext>
            </a:extLst>
          </p:cNvPr>
          <p:cNvSpPr txBox="1"/>
          <p:nvPr/>
        </p:nvSpPr>
        <p:spPr>
          <a:xfrm>
            <a:off x="687324" y="1862007"/>
            <a:ext cx="10817352" cy="2817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000"/>
            </a:pPr>
            <a:r>
              <a:rPr lang="en-US" dirty="0"/>
              <a:t>All money math uses </a:t>
            </a:r>
            <a:r>
              <a:rPr lang="en-US" dirty="0" err="1"/>
              <a:t>decimal.Decimal</a:t>
            </a:r>
            <a:r>
              <a:rPr lang="en-US" dirty="0"/>
              <a:t> to accommodate large amount values.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000"/>
            </a:pPr>
            <a:r>
              <a:rPr lang="en-US" dirty="0"/>
              <a:t>No approximations of figures. </a:t>
            </a:r>
            <a:r>
              <a:rPr lang="en-US" sz="2000" dirty="0"/>
              <a:t>I explicitly round initial deposits to 2 decimal places at service level, and monetary persistence (Dr/Cr) uses 2dp DB numeric columns.</a:t>
            </a:r>
            <a:endParaRPr lang="en-US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000"/>
            </a:pPr>
            <a:r>
              <a:rPr lang="en-US" dirty="0"/>
              <a:t>Charge computed in USD with min/max bounds; converted to debit currency when needed.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000"/>
            </a:pPr>
            <a:r>
              <a:rPr lang="en-US" dirty="0"/>
              <a:t>Transaction posting is atomic using DB transaction to improve financial reliability.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000"/>
            </a:pPr>
            <a:r>
              <a:rPr lang="en-US" dirty="0"/>
              <a:t>Settlement is decoupled as second leg for resilience and recoverability.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FBF64D-301C-5556-E2A3-CB8558824762}"/>
              </a:ext>
            </a:extLst>
          </p:cNvPr>
          <p:cNvSpPr txBox="1"/>
          <p:nvPr/>
        </p:nvSpPr>
        <p:spPr>
          <a:xfrm>
            <a:off x="395478" y="850292"/>
            <a:ext cx="108173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000000"/>
                </a:solidFill>
                <a:latin typeface="+mj-lt"/>
              </a:rPr>
              <a:t>Amount Handling, </a:t>
            </a:r>
            <a:r>
              <a:rPr lang="en-US" sz="3000" b="1" i="0" u="none" strike="noStrike" dirty="0">
                <a:solidFill>
                  <a:srgbClr val="000000"/>
                </a:solidFill>
                <a:effectLst/>
                <a:latin typeface="+mj-lt"/>
              </a:rPr>
              <a:t>Consistency, Atomicity and Failur</a:t>
            </a:r>
            <a:r>
              <a:rPr lang="en-US" sz="3000" b="1" dirty="0">
                <a:solidFill>
                  <a:srgbClr val="000000"/>
                </a:solidFill>
                <a:latin typeface="+mj-lt"/>
              </a:rPr>
              <a:t>e Handling</a:t>
            </a:r>
            <a:endParaRPr lang="en-US" sz="3000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09311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9FC6E-FE48-772A-2B46-5AD509008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1037BF-C543-FFB3-1922-74555BA2986E}"/>
              </a:ext>
            </a:extLst>
          </p:cNvPr>
          <p:cNvSpPr/>
          <p:nvPr/>
        </p:nvSpPr>
        <p:spPr>
          <a:xfrm>
            <a:off x="493776" y="1441174"/>
            <a:ext cx="2871216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A45DF7-AF69-ED8D-ABF7-0B98EF409181}"/>
              </a:ext>
            </a:extLst>
          </p:cNvPr>
          <p:cNvSpPr txBox="1"/>
          <p:nvPr/>
        </p:nvSpPr>
        <p:spPr>
          <a:xfrm>
            <a:off x="687324" y="1862007"/>
            <a:ext cx="10817352" cy="2817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000"/>
            </a:pPr>
            <a:r>
              <a:rPr lang="en-US" dirty="0"/>
              <a:t>Channel-level Basic Auth middleware with constant-time credential compare.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000"/>
            </a:pPr>
            <a:r>
              <a:rPr lang="en-US" dirty="0"/>
              <a:t>Transaction PIN hashed with </a:t>
            </a:r>
            <a:r>
              <a:rPr lang="en-US" dirty="0" err="1"/>
              <a:t>bcrypt</a:t>
            </a:r>
            <a:r>
              <a:rPr lang="en-US" dirty="0"/>
              <a:t> and verified before transfer.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000"/>
            </a:pPr>
            <a:r>
              <a:rPr lang="en-US" dirty="0"/>
              <a:t>Structured logging and startup/transfer timing instrumentation.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000"/>
            </a:pPr>
            <a:r>
              <a:rPr lang="en-US" dirty="0"/>
              <a:t>DB connection pool tuned for concurrent workloads.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000"/>
            </a:pPr>
            <a:r>
              <a:rPr lang="en-US" dirty="0"/>
              <a:t>Leveraged goroutines for parallel account lookups, charge/rate computations, and startup initialization to reduce latency and improve throughput.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94A97F-35AF-2D56-C00B-C38A4EE979E8}"/>
              </a:ext>
            </a:extLst>
          </p:cNvPr>
          <p:cNvSpPr txBox="1"/>
          <p:nvPr/>
        </p:nvSpPr>
        <p:spPr>
          <a:xfrm>
            <a:off x="395478" y="850292"/>
            <a:ext cx="108173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000000"/>
                </a:solidFill>
                <a:latin typeface="+mj-lt"/>
              </a:rPr>
              <a:t>Security, Concurrency, and Operational Readiness</a:t>
            </a:r>
            <a:endParaRPr lang="en-US" sz="3000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11375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00C33-8C79-EBD7-B9D9-F1E96EDF0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2F5DA1-36F5-0F22-5DB8-653702E4E0C1}"/>
              </a:ext>
            </a:extLst>
          </p:cNvPr>
          <p:cNvSpPr/>
          <p:nvPr/>
        </p:nvSpPr>
        <p:spPr>
          <a:xfrm>
            <a:off x="493776" y="1441174"/>
            <a:ext cx="2871216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90180E-4237-2C4C-7BF0-CAD5505B89AA}"/>
              </a:ext>
            </a:extLst>
          </p:cNvPr>
          <p:cNvSpPr txBox="1"/>
          <p:nvPr/>
        </p:nvSpPr>
        <p:spPr>
          <a:xfrm>
            <a:off x="687324" y="1862007"/>
            <a:ext cx="10817352" cy="1432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Service-focused unit tests with validation and happy-path coverage.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Core test packages currently pass (14 tests total).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Strong focus on business-rule correctness over broad integration depth.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025A6A-144A-A81F-5293-526F3CB10C39}"/>
              </a:ext>
            </a:extLst>
          </p:cNvPr>
          <p:cNvSpPr txBox="1"/>
          <p:nvPr/>
        </p:nvSpPr>
        <p:spPr>
          <a:xfrm>
            <a:off x="395478" y="850292"/>
            <a:ext cx="108173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000000"/>
                </a:solidFill>
                <a:latin typeface="+mj-lt"/>
              </a:rPr>
              <a:t>Testing Strategy</a:t>
            </a:r>
            <a:endParaRPr lang="en-US" sz="3000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08016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CEBD9-EAD4-3BC4-A441-45D46AE7B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44CFF2-270A-81EE-2A62-B14EF34F69A6}"/>
              </a:ext>
            </a:extLst>
          </p:cNvPr>
          <p:cNvSpPr/>
          <p:nvPr/>
        </p:nvSpPr>
        <p:spPr>
          <a:xfrm>
            <a:off x="493776" y="1441174"/>
            <a:ext cx="2871216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912A27-5AF9-B9A8-AAE7-A8F74563A52B}"/>
              </a:ext>
            </a:extLst>
          </p:cNvPr>
          <p:cNvSpPr txBox="1"/>
          <p:nvPr/>
        </p:nvSpPr>
        <p:spPr>
          <a:xfrm>
            <a:off x="687324" y="1862007"/>
            <a:ext cx="10817352" cy="4202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Current architecture optimizes delivery speed, maintainability, and financial correctness over deep integration tests and production hardened security. Next phase strengthens security, reliability, and scalability.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Known gaps: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Transfers idempotency implementation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Richer auth model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Deeper observability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Asynchronous queue ingestion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Worker-based settlement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B23F8D-A7EF-4AD5-EE39-AA52A55EF7CD}"/>
              </a:ext>
            </a:extLst>
          </p:cNvPr>
          <p:cNvSpPr txBox="1"/>
          <p:nvPr/>
        </p:nvSpPr>
        <p:spPr>
          <a:xfrm>
            <a:off x="395478" y="850292"/>
            <a:ext cx="108173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000000"/>
                </a:solidFill>
                <a:latin typeface="+mj-lt"/>
              </a:rPr>
              <a:t>Trade-offs and Risks</a:t>
            </a:r>
            <a:endParaRPr lang="en-US" sz="3000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7001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864B0-1302-BA4A-A457-065BACFE1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9761FE-EC53-FE57-9DD3-CFF48E1E1CC7}"/>
              </a:ext>
            </a:extLst>
          </p:cNvPr>
          <p:cNvSpPr/>
          <p:nvPr/>
        </p:nvSpPr>
        <p:spPr>
          <a:xfrm>
            <a:off x="493776" y="1441174"/>
            <a:ext cx="2871216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2B9928-3665-CFE3-D241-64E3820C0D4A}"/>
              </a:ext>
            </a:extLst>
          </p:cNvPr>
          <p:cNvSpPr txBox="1"/>
          <p:nvPr/>
        </p:nvSpPr>
        <p:spPr>
          <a:xfrm>
            <a:off x="687324" y="1689287"/>
            <a:ext cx="10817352" cy="5126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b="1" dirty="0"/>
              <a:t>Reliability</a:t>
            </a:r>
            <a:r>
              <a:rPr lang="en-US" dirty="0"/>
              <a:t>: </a:t>
            </a:r>
            <a:r>
              <a:rPr lang="en-US" sz="2000" dirty="0"/>
              <a:t>Enforce transfer uniqueness with a channel-provided idempotency reference. Reuse the same reference for safe retries, reversals, and downstream audit traceability</a:t>
            </a:r>
            <a:r>
              <a:rPr lang="en-US" dirty="0"/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b="1" dirty="0"/>
              <a:t>Security</a:t>
            </a:r>
            <a:r>
              <a:rPr lang="en-US" dirty="0"/>
              <a:t>: </a:t>
            </a:r>
            <a:r>
              <a:rPr lang="en-US" sz="2000" dirty="0"/>
              <a:t>Strengthen auth with API gateway controls (API keys, rate limits, geo/IP filtering), JWT claims for initiator context and authorization, and a dedicated channel-auth service.</a:t>
            </a:r>
            <a:r>
              <a:rPr lang="en-US" dirty="0"/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b="1" dirty="0"/>
              <a:t>Scalability</a:t>
            </a:r>
            <a:r>
              <a:rPr lang="en-US" dirty="0"/>
              <a:t>: </a:t>
            </a:r>
            <a:r>
              <a:rPr lang="en-US" sz="2000" dirty="0"/>
              <a:t>Introduce Pub/Sub buffering for peak traffic and async transaction processing using either of Apache Kafka, RabbitMQ, GCP Pub/Sub, or AWS SQS.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b="1" dirty="0"/>
              <a:t>Monitoring and Operations</a:t>
            </a:r>
            <a:r>
              <a:rPr lang="en-US" dirty="0"/>
              <a:t>: </a:t>
            </a:r>
            <a:r>
              <a:rPr lang="en-US" sz="2000" dirty="0"/>
              <a:t>Improve observability with </a:t>
            </a:r>
            <a:r>
              <a:rPr lang="en-US" sz="2000" dirty="0" err="1"/>
              <a:t>OpenTelemetry</a:t>
            </a:r>
            <a:r>
              <a:rPr lang="en-US" sz="2000" dirty="0"/>
              <a:t> traces, Prometheus metrics, and Grafana dashboards.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2000" b="1" dirty="0"/>
              <a:t>Worker-based settlement:</a:t>
            </a:r>
            <a:r>
              <a:rPr lang="en-US" sz="2000" dirty="0"/>
              <a:t> Move fee settlement to asynchronous workers that consume queued transfer events, enabling retries, better fault isolation, and higher throughput under load.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A127AF-922F-C6DB-AD71-450AE7FC5021}"/>
              </a:ext>
            </a:extLst>
          </p:cNvPr>
          <p:cNvSpPr txBox="1"/>
          <p:nvPr/>
        </p:nvSpPr>
        <p:spPr>
          <a:xfrm>
            <a:off x="395478" y="850292"/>
            <a:ext cx="108173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000000"/>
                </a:solidFill>
                <a:latin typeface="+mj-lt"/>
              </a:rPr>
              <a:t>Optimization Strategy</a:t>
            </a:r>
            <a:endParaRPr lang="en-US" sz="3000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564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8888F-190D-CB0F-EEC6-1C8E9DD5B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F4A9486-9638-AC9D-9D79-7E05B8AB78D6}"/>
              </a:ext>
            </a:extLst>
          </p:cNvPr>
          <p:cNvSpPr/>
          <p:nvPr/>
        </p:nvSpPr>
        <p:spPr>
          <a:xfrm>
            <a:off x="493776" y="1441174"/>
            <a:ext cx="2871216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591466-EACA-9DAB-75EB-ED1D9BB05775}"/>
              </a:ext>
            </a:extLst>
          </p:cNvPr>
          <p:cNvSpPr txBox="1"/>
          <p:nvPr/>
        </p:nvSpPr>
        <p:spPr>
          <a:xfrm>
            <a:off x="687324" y="1689287"/>
            <a:ext cx="10817352" cy="2817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Built a reliable foundation for multi-currency internal and external transfers with auditable posting flows.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Prioritized financial correctness and delivery speed under time constraints.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Designed for maintainability through clean layering and repository boundaries.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Next phase focuses on security, reliability, and scale: idempotency, async worker-based settlement, stronger auth, and deeper observability.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22B3D7-3DE1-BC18-3D98-64ED53365C30}"/>
              </a:ext>
            </a:extLst>
          </p:cNvPr>
          <p:cNvSpPr txBox="1"/>
          <p:nvPr/>
        </p:nvSpPr>
        <p:spPr>
          <a:xfrm>
            <a:off x="395478" y="850292"/>
            <a:ext cx="108173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000000"/>
                </a:solidFill>
                <a:latin typeface="+mj-lt"/>
              </a:rPr>
              <a:t>Closing</a:t>
            </a:r>
            <a:endParaRPr lang="en-US" sz="3000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85400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1594</TotalTime>
  <Words>958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Aptos Light</vt:lpstr>
      <vt:lpstr>Arial</vt:lpstr>
      <vt:lpstr>Office Theme</vt:lpstr>
      <vt:lpstr>Technical Walkthrough: FCY Payment Processor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Afolabi Paul</dc:creator>
  <cp:lastModifiedBy>Afolabi Paul</cp:lastModifiedBy>
  <cp:revision>3</cp:revision>
  <dcterms:created xsi:type="dcterms:W3CDTF">2025-08-25T19:01:28Z</dcterms:created>
  <dcterms:modified xsi:type="dcterms:W3CDTF">2026-03-15T08:27:02Z</dcterms:modified>
</cp:coreProperties>
</file>